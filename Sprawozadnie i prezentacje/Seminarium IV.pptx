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391" r:id="rId2"/>
    <p:sldId id="298" r:id="rId3"/>
    <p:sldId id="392" r:id="rId4"/>
    <p:sldId id="394" r:id="rId5"/>
    <p:sldId id="393" r:id="rId6"/>
    <p:sldId id="395" r:id="rId7"/>
    <p:sldId id="320" r:id="rId8"/>
    <p:sldId id="396" r:id="rId9"/>
    <p:sldId id="325" r:id="rId10"/>
    <p:sldId id="397" r:id="rId11"/>
    <p:sldId id="389" r:id="rId12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1"/>
            <p14:sldId id="298"/>
            <p14:sldId id="392"/>
            <p14:sldId id="394"/>
            <p14:sldId id="393"/>
            <p14:sldId id="395"/>
            <p14:sldId id="320"/>
            <p14:sldId id="396"/>
            <p14:sldId id="325"/>
            <p14:sldId id="397"/>
            <p14:sldId id="3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8BD3B-13FD-4C14-8BC3-2C5E8B12191A}" v="31" dt="2024-11-17T20:47:43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1" autoAdjust="0"/>
    <p:restoredTop sz="94678" autoAdjust="0"/>
  </p:normalViewPr>
  <p:slideViewPr>
    <p:cSldViewPr snapToGrid="0" showGuides="1">
      <p:cViewPr varScale="1">
        <p:scale>
          <a:sx n="37" d="100"/>
          <a:sy n="37" d="100"/>
        </p:scale>
        <p:origin x="1195" y="67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71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WFvAD3O5r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348278"/>
            <a:ext cx="19021928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 </a:t>
            </a:r>
            <a:r>
              <a:rPr lang="pl-PL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SYMULATOR UKŁADU Automatycznej regulacji</a:t>
            </a:r>
            <a:endParaRPr lang="en-US" sz="110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96748" y="10152527"/>
            <a:ext cx="1679713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4400" b="1" dirty="0">
                <a:solidFill>
                  <a:schemeClr val="bg1"/>
                </a:solidFill>
              </a:rPr>
              <a:t>Okres (4) – (5) Dopracowanie działania aplikacji: </a:t>
            </a:r>
            <a:endParaRPr lang="en-US" sz="4400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52" y="1783909"/>
            <a:ext cx="191594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</a:rPr>
              <a:t>Omówienie algorytmów skalowania wykresów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">
            <a:extLst>
              <a:ext uri="{FF2B5EF4-FFF2-40B4-BE49-F238E27FC236}">
                <a16:creationId xmlns:a16="http://schemas.microsoft.com/office/drawing/2014/main" id="{20CA8BB7-9092-0D9F-EC87-03EAA0271321}"/>
              </a:ext>
            </a:extLst>
          </p:cNvPr>
          <p:cNvSpPr txBox="1"/>
          <p:nvPr/>
        </p:nvSpPr>
        <p:spPr>
          <a:xfrm>
            <a:off x="520971" y="3214390"/>
            <a:ext cx="1915941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b="1" dirty="0" err="1">
                <a:solidFill>
                  <a:schemeClr val="bg1"/>
                </a:solidFill>
              </a:rPr>
              <a:t>autoscaleAxis</a:t>
            </a:r>
            <a:r>
              <a:rPr lang="pl-PL" b="1" dirty="0">
                <a:solidFill>
                  <a:schemeClr val="bg1"/>
                </a:solidFill>
              </a:rPr>
              <a:t>(...) — (funkcja)</a:t>
            </a:r>
            <a:endParaRPr lang="pl-PL" b="1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r>
              <a:rPr lang="pl-PL" dirty="0">
                <a:solidFill>
                  <a:schemeClr val="bg1"/>
                </a:solidFill>
                <a:cs typeface="Poppins SemiBold" panose="02000000000000000000" pitchFamily="2" charset="0"/>
              </a:rPr>
              <a:t>Co robi?</a:t>
            </a:r>
            <a:b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</a:br>
            <a: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  <a:t>O</a:t>
            </a:r>
            <a:r>
              <a:rPr lang="pl-PL" dirty="0">
                <a:solidFill>
                  <a:schemeClr val="bg1"/>
                </a:solidFill>
              </a:rPr>
              <a:t>blicza </a:t>
            </a:r>
            <a:r>
              <a:rPr lang="pl-PL" dirty="0" err="1">
                <a:solidFill>
                  <a:schemeClr val="bg1"/>
                </a:solidFill>
              </a:rPr>
              <a:t>minY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maxY</a:t>
            </a:r>
            <a:r>
              <a:rPr lang="pl-PL" dirty="0">
                <a:solidFill>
                  <a:schemeClr val="bg1"/>
                </a:solidFill>
              </a:rPr>
              <a:t> dla zadanego przedziału czasowego i ustawia zakres osi Y z 10% marginesem.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8" name="Obraz 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A3CB0515-F172-C02B-B0F5-5676CC28C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71" y="5198868"/>
            <a:ext cx="15855102" cy="595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3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</a:rPr>
              <a:t>Okno czasowe (X-</a:t>
            </a:r>
            <a:r>
              <a:rPr lang="pl-PL" sz="7200" b="1" dirty="0" err="1">
                <a:solidFill>
                  <a:schemeClr val="bg1"/>
                </a:solidFill>
              </a:rPr>
              <a:t>axis</a:t>
            </a:r>
            <a:r>
              <a:rPr lang="pl-PL" sz="7200" b="1" dirty="0">
                <a:solidFill>
                  <a:schemeClr val="bg1"/>
                </a:solidFill>
              </a:rPr>
              <a:t>) i obcinanie danych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9D32D9C-52BA-8960-2E7F-56A5833E2023}"/>
              </a:ext>
            </a:extLst>
          </p:cNvPr>
          <p:cNvSpPr txBox="1"/>
          <p:nvPr/>
        </p:nvSpPr>
        <p:spPr>
          <a:xfrm>
            <a:off x="6053328" y="11064240"/>
            <a:ext cx="965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do filmu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36B1DD12-ED6C-39B4-6FF0-AF3B62C25B0E}"/>
              </a:ext>
            </a:extLst>
          </p:cNvPr>
          <p:cNvSpPr txBox="1"/>
          <p:nvPr/>
        </p:nvSpPr>
        <p:spPr>
          <a:xfrm>
            <a:off x="84552" y="3162437"/>
            <a:ext cx="2026999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Obliczenie </a:t>
            </a:r>
            <a:r>
              <a:rPr lang="pl-PL" dirty="0" err="1">
                <a:solidFill>
                  <a:schemeClr val="bg1"/>
                </a:solidFill>
              </a:rPr>
              <a:t>windowStart</a:t>
            </a:r>
            <a:r>
              <a:rPr lang="pl-PL" dirty="0">
                <a:solidFill>
                  <a:schemeClr val="bg1"/>
                </a:solidFill>
              </a:rPr>
              <a:t> = </a:t>
            </a:r>
            <a:r>
              <a:rPr lang="pl-PL" dirty="0" err="1">
                <a:solidFill>
                  <a:schemeClr val="bg1"/>
                </a:solidFill>
              </a:rPr>
              <a:t>std</a:t>
            </a:r>
            <a:r>
              <a:rPr lang="pl-PL" dirty="0">
                <a:solidFill>
                  <a:schemeClr val="bg1"/>
                </a:solidFill>
              </a:rPr>
              <a:t>::max(0.0, </a:t>
            </a:r>
            <a:r>
              <a:rPr lang="pl-PL" dirty="0" err="1">
                <a:solidFill>
                  <a:schemeClr val="bg1"/>
                </a:solidFill>
              </a:rPr>
              <a:t>timeSec</a:t>
            </a:r>
            <a:r>
              <a:rPr lang="pl-PL" dirty="0">
                <a:solidFill>
                  <a:schemeClr val="bg1"/>
                </a:solidFill>
              </a:rPr>
              <a:t> - </a:t>
            </a:r>
            <a:r>
              <a:rPr lang="pl-PL" dirty="0" err="1">
                <a:solidFill>
                  <a:schemeClr val="bg1"/>
                </a:solidFill>
              </a:rPr>
              <a:t>windowSeconds</a:t>
            </a:r>
            <a:r>
              <a:rPr lang="pl-PL" dirty="0">
                <a:solidFill>
                  <a:schemeClr val="bg1"/>
                </a:solidFill>
              </a:rPr>
              <a:t>); używane w </a:t>
            </a:r>
            <a:r>
              <a:rPr lang="pl-PL" dirty="0" err="1">
                <a:solidFill>
                  <a:schemeClr val="bg1"/>
                </a:solidFill>
              </a:rPr>
              <a:t>updateGraphData</a:t>
            </a:r>
            <a:r>
              <a:rPr lang="pl-PL" dirty="0">
                <a:solidFill>
                  <a:schemeClr val="bg1"/>
                </a:solidFill>
              </a:rPr>
              <a:t>() i </a:t>
            </a:r>
            <a:r>
              <a:rPr lang="pl-PL" dirty="0" err="1">
                <a:solidFill>
                  <a:schemeClr val="bg1"/>
                </a:solidFill>
              </a:rPr>
              <a:t>onSimStep</a:t>
            </a:r>
            <a:r>
              <a:rPr lang="pl-PL" dirty="0">
                <a:solidFill>
                  <a:schemeClr val="bg1"/>
                </a:solidFill>
              </a:rPr>
              <a:t>(), oraz </a:t>
            </a:r>
            <a:r>
              <a:rPr lang="pl-PL" dirty="0" err="1">
                <a:solidFill>
                  <a:schemeClr val="bg1"/>
                </a:solidFill>
              </a:rPr>
              <a:t>trimGraphToWindow</a:t>
            </a:r>
            <a:r>
              <a:rPr lang="pl-PL" dirty="0">
                <a:solidFill>
                  <a:schemeClr val="bg1"/>
                </a:solidFill>
              </a:rPr>
              <a:t>(</a:t>
            </a:r>
            <a:r>
              <a:rPr lang="pl-PL" dirty="0" err="1">
                <a:solidFill>
                  <a:schemeClr val="bg1"/>
                </a:solidFill>
              </a:rPr>
              <a:t>graph</a:t>
            </a:r>
            <a:r>
              <a:rPr lang="pl-PL" dirty="0">
                <a:solidFill>
                  <a:schemeClr val="bg1"/>
                </a:solidFill>
              </a:rPr>
              <a:t>, </a:t>
            </a:r>
            <a:r>
              <a:rPr lang="pl-PL" dirty="0" err="1">
                <a:solidFill>
                  <a:schemeClr val="bg1"/>
                </a:solidFill>
              </a:rPr>
              <a:t>windowStart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Co robi: ustala widoczny przedział czasu i usuwa punkty przed </a:t>
            </a:r>
            <a:r>
              <a:rPr lang="pl-PL" dirty="0" err="1">
                <a:solidFill>
                  <a:schemeClr val="bg1"/>
                </a:solidFill>
              </a:rPr>
              <a:t>windowStart</a:t>
            </a:r>
            <a:r>
              <a:rPr lang="pl-PL" dirty="0">
                <a:solidFill>
                  <a:schemeClr val="bg1"/>
                </a:solidFill>
              </a:rPr>
              <a:t> (oszczędność pamięci).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10" name="Obraz 9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8D48AA73-958C-491E-83B9-E3C85F2FD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2" y="5284720"/>
            <a:ext cx="18488653" cy="384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1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 err="1">
                <a:solidFill>
                  <a:schemeClr val="bg1"/>
                </a:solidFill>
              </a:rPr>
              <a:t>appendPoint</a:t>
            </a:r>
            <a:r>
              <a:rPr lang="pl-PL" sz="7200" b="1" dirty="0">
                <a:solidFill>
                  <a:schemeClr val="bg1"/>
                </a:solidFill>
              </a:rPr>
              <a:t>(...) — (funkcja)</a:t>
            </a:r>
          </a:p>
          <a:p>
            <a:endParaRPr lang="pl-PL" sz="2800" dirty="0">
              <a:solidFill>
                <a:schemeClr val="bg1"/>
              </a:solidFill>
            </a:endParaRPr>
          </a:p>
          <a:p>
            <a:r>
              <a:rPr lang="pl-PL" sz="4400" dirty="0">
                <a:solidFill>
                  <a:schemeClr val="bg1"/>
                </a:solidFill>
              </a:rPr>
              <a:t>Co robi: dopisuje punkt do grafu; jeśli liczba próbek &gt; </a:t>
            </a:r>
            <a:r>
              <a:rPr lang="pl-PL" sz="4400" dirty="0" err="1">
                <a:solidFill>
                  <a:schemeClr val="bg1"/>
                </a:solidFill>
              </a:rPr>
              <a:t>maxPointsPerGraph</a:t>
            </a:r>
            <a:r>
              <a:rPr lang="pl-PL" sz="4400" dirty="0">
                <a:solidFill>
                  <a:schemeClr val="bg1"/>
                </a:solidFill>
              </a:rPr>
              <a:t> usuwa najstarsze przez </a:t>
            </a:r>
            <a:r>
              <a:rPr lang="pl-PL" sz="4400" dirty="0" err="1">
                <a:solidFill>
                  <a:schemeClr val="bg1"/>
                </a:solidFill>
              </a:rPr>
              <a:t>removeBefore</a:t>
            </a:r>
            <a:r>
              <a:rPr lang="pl-PL" sz="4400" dirty="0">
                <a:solidFill>
                  <a:schemeClr val="bg1"/>
                </a:solidFill>
              </a:rPr>
              <a:t>(</a:t>
            </a:r>
            <a:r>
              <a:rPr lang="pl-PL" sz="4400" dirty="0" err="1">
                <a:solidFill>
                  <a:schemeClr val="bg1"/>
                </a:solidFill>
              </a:rPr>
              <a:t>cutoff</a:t>
            </a:r>
            <a:r>
              <a:rPr lang="pl-PL" sz="4400" dirty="0">
                <a:solidFill>
                  <a:schemeClr val="bg1"/>
                </a:solidFill>
              </a:rPr>
              <a:t>).</a:t>
            </a:r>
            <a:endParaRPr lang="en-US" sz="4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589D0EF-6E49-61BA-805F-05EFC0B86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6" y="5567376"/>
            <a:ext cx="23606652" cy="35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0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 err="1">
                <a:solidFill>
                  <a:schemeClr val="bg1"/>
                </a:solidFill>
              </a:rPr>
              <a:t>trimGraphToWindow</a:t>
            </a:r>
            <a:r>
              <a:rPr lang="pl-PL" sz="7200" b="1" dirty="0">
                <a:solidFill>
                  <a:schemeClr val="bg1"/>
                </a:solidFill>
              </a:rPr>
              <a:t>(...) — (funkcja, pomocnicza)</a:t>
            </a:r>
          </a:p>
          <a:p>
            <a:endParaRPr lang="pl-PL" sz="2800" dirty="0">
              <a:solidFill>
                <a:schemeClr val="bg1"/>
              </a:solidFill>
            </a:endParaRPr>
          </a:p>
          <a:p>
            <a:r>
              <a:rPr lang="pl-PL" sz="4400" dirty="0">
                <a:solidFill>
                  <a:schemeClr val="bg1"/>
                </a:solidFill>
              </a:rPr>
              <a:t>Co robi: </a:t>
            </a:r>
            <a:r>
              <a:rPr lang="pl-PL" sz="4400" dirty="0" err="1">
                <a:solidFill>
                  <a:schemeClr val="bg1"/>
                </a:solidFill>
              </a:rPr>
              <a:t>wrapper</a:t>
            </a:r>
            <a:r>
              <a:rPr lang="pl-PL" sz="4400" dirty="0">
                <a:solidFill>
                  <a:schemeClr val="bg1"/>
                </a:solidFill>
              </a:rPr>
              <a:t> wywołujący </a:t>
            </a:r>
            <a:r>
              <a:rPr lang="pl-PL" sz="4400" dirty="0" err="1">
                <a:solidFill>
                  <a:schemeClr val="bg1"/>
                </a:solidFill>
              </a:rPr>
              <a:t>graph</a:t>
            </a:r>
            <a:r>
              <a:rPr lang="pl-PL" sz="4400" dirty="0">
                <a:solidFill>
                  <a:schemeClr val="bg1"/>
                </a:solidFill>
              </a:rPr>
              <a:t>-&gt;data()-&gt;</a:t>
            </a:r>
            <a:r>
              <a:rPr lang="pl-PL" sz="4400" dirty="0" err="1">
                <a:solidFill>
                  <a:schemeClr val="bg1"/>
                </a:solidFill>
              </a:rPr>
              <a:t>removeBefore</a:t>
            </a:r>
            <a:r>
              <a:rPr lang="pl-PL" sz="4400" dirty="0">
                <a:solidFill>
                  <a:schemeClr val="bg1"/>
                </a:solidFill>
              </a:rPr>
              <a:t>(</a:t>
            </a:r>
            <a:r>
              <a:rPr lang="pl-PL" sz="4400" dirty="0" err="1">
                <a:solidFill>
                  <a:schemeClr val="bg1"/>
                </a:solidFill>
              </a:rPr>
              <a:t>windowStart</a:t>
            </a:r>
            <a:r>
              <a:rPr lang="pl-PL" sz="4400" dirty="0">
                <a:solidFill>
                  <a:schemeClr val="bg1"/>
                </a:solidFill>
              </a:rPr>
              <a:t>) — prosty sposób na obcięcie historii.</a:t>
            </a:r>
            <a:endParaRPr lang="en-US" sz="4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D95E3293-7222-2FC1-F2D0-C5E969595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4" y="5221166"/>
            <a:ext cx="22514862" cy="236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8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177A8-58EA-D4AE-89C9-6B95CEB9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C1379-9DAF-B701-1647-9B2D5C080002}"/>
              </a:ext>
            </a:extLst>
          </p:cNvPr>
          <p:cNvSpPr txBox="1"/>
          <p:nvPr/>
        </p:nvSpPr>
        <p:spPr>
          <a:xfrm>
            <a:off x="84552" y="1783909"/>
            <a:ext cx="20269992" cy="73866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</a:rPr>
              <a:t>Miejsce </a:t>
            </a:r>
            <a:r>
              <a:rPr lang="pl-PL" sz="7200" b="1" dirty="0" err="1">
                <a:solidFill>
                  <a:schemeClr val="bg1"/>
                </a:solidFill>
              </a:rPr>
              <a:t>wywołań</a:t>
            </a:r>
            <a:r>
              <a:rPr lang="pl-PL" sz="7200" b="1" dirty="0">
                <a:solidFill>
                  <a:schemeClr val="bg1"/>
                </a:solidFill>
              </a:rPr>
              <a:t> </a:t>
            </a:r>
            <a:r>
              <a:rPr lang="pl-PL" sz="7200" b="1" dirty="0" err="1">
                <a:solidFill>
                  <a:schemeClr val="bg1"/>
                </a:solidFill>
              </a:rPr>
              <a:t>autoskalowania</a:t>
            </a:r>
            <a:r>
              <a:rPr lang="pl-PL" sz="7200" b="1" dirty="0">
                <a:solidFill>
                  <a:schemeClr val="bg1"/>
                </a:solidFill>
              </a:rPr>
              <a:t> i </a:t>
            </a:r>
            <a:r>
              <a:rPr lang="pl-PL" sz="7200" b="1" dirty="0" err="1">
                <a:solidFill>
                  <a:schemeClr val="bg1"/>
                </a:solidFill>
              </a:rPr>
              <a:t>replotowania</a:t>
            </a:r>
            <a:endParaRPr lang="pl-PL" sz="7200" b="1" dirty="0">
              <a:solidFill>
                <a:schemeClr val="bg1"/>
              </a:solidFill>
            </a:endParaRPr>
          </a:p>
          <a:p>
            <a:endParaRPr lang="pl-PL" sz="28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r>
              <a:rPr lang="pl-PL" sz="4400" dirty="0">
                <a:solidFill>
                  <a:schemeClr val="bg1"/>
                </a:solidFill>
              </a:rPr>
              <a:t>Główne miejsca: </a:t>
            </a:r>
            <a:r>
              <a:rPr lang="pl-PL" sz="4400" dirty="0" err="1">
                <a:solidFill>
                  <a:schemeClr val="bg1"/>
                </a:solidFill>
              </a:rPr>
              <a:t>onSimStep</a:t>
            </a:r>
            <a:r>
              <a:rPr lang="pl-PL" sz="4400" dirty="0">
                <a:solidFill>
                  <a:schemeClr val="bg1"/>
                </a:solidFill>
              </a:rPr>
              <a:t>() — po dodaniu punktów: ustawienie zakresu X (</a:t>
            </a:r>
            <a:r>
              <a:rPr lang="pl-PL" sz="4400" dirty="0" err="1">
                <a:solidFill>
                  <a:schemeClr val="bg1"/>
                </a:solidFill>
              </a:rPr>
              <a:t>xAxis</a:t>
            </a:r>
            <a:r>
              <a:rPr lang="pl-PL" sz="4400" dirty="0">
                <a:solidFill>
                  <a:schemeClr val="bg1"/>
                </a:solidFill>
              </a:rPr>
              <a:t>-&gt;</a:t>
            </a:r>
            <a:r>
              <a:rPr lang="pl-PL" sz="4400" dirty="0" err="1">
                <a:solidFill>
                  <a:schemeClr val="bg1"/>
                </a:solidFill>
              </a:rPr>
              <a:t>setRange</a:t>
            </a:r>
            <a:r>
              <a:rPr lang="pl-PL" sz="4400" dirty="0">
                <a:solidFill>
                  <a:schemeClr val="bg1"/>
                </a:solidFill>
              </a:rPr>
              <a:t>(</a:t>
            </a:r>
            <a:r>
              <a:rPr lang="pl-PL" sz="4400" dirty="0" err="1">
                <a:solidFill>
                  <a:schemeClr val="bg1"/>
                </a:solidFill>
              </a:rPr>
              <a:t>windowStart</a:t>
            </a:r>
            <a:r>
              <a:rPr lang="pl-PL" sz="4400" dirty="0">
                <a:solidFill>
                  <a:schemeClr val="bg1"/>
                </a:solidFill>
              </a:rPr>
              <a:t>, </a:t>
            </a:r>
            <a:r>
              <a:rPr lang="pl-PL" sz="4400" dirty="0" err="1">
                <a:solidFill>
                  <a:schemeClr val="bg1"/>
                </a:solidFill>
              </a:rPr>
              <a:t>timeSec</a:t>
            </a:r>
            <a:r>
              <a:rPr lang="pl-PL" sz="4400" dirty="0">
                <a:solidFill>
                  <a:schemeClr val="bg1"/>
                </a:solidFill>
              </a:rPr>
              <a:t>)), wywołania:</a:t>
            </a:r>
          </a:p>
          <a:p>
            <a:pPr lvl="1"/>
            <a:r>
              <a:rPr lang="pl-PL" sz="4400" dirty="0">
                <a:solidFill>
                  <a:schemeClr val="bg1"/>
                </a:solidFill>
              </a:rPr>
              <a:t>- </a:t>
            </a:r>
            <a:r>
              <a:rPr lang="pl-PL" sz="4400" dirty="0" err="1">
                <a:solidFill>
                  <a:schemeClr val="bg1"/>
                </a:solidFill>
              </a:rPr>
              <a:t>autoscaleAxis</a:t>
            </a:r>
            <a:r>
              <a:rPr lang="pl-PL" sz="4400" dirty="0">
                <a:solidFill>
                  <a:schemeClr val="bg1"/>
                </a:solidFill>
              </a:rPr>
              <a:t>(</a:t>
            </a:r>
            <a:r>
              <a:rPr lang="pl-PL" sz="4400" dirty="0" err="1">
                <a:solidFill>
                  <a:schemeClr val="bg1"/>
                </a:solidFill>
              </a:rPr>
              <a:t>customPlotZadanaRegulowana</a:t>
            </a:r>
            <a:r>
              <a:rPr lang="pl-PL" sz="4400" dirty="0">
                <a:solidFill>
                  <a:schemeClr val="bg1"/>
                </a:solidFill>
              </a:rPr>
              <a:t>-&gt;</a:t>
            </a:r>
            <a:r>
              <a:rPr lang="pl-PL" sz="4400" dirty="0" err="1">
                <a:solidFill>
                  <a:schemeClr val="bg1"/>
                </a:solidFill>
              </a:rPr>
              <a:t>yAxis</a:t>
            </a:r>
            <a:r>
              <a:rPr lang="pl-PL" sz="4400" dirty="0">
                <a:solidFill>
                  <a:schemeClr val="bg1"/>
                </a:solidFill>
              </a:rPr>
              <a:t>, {</a:t>
            </a:r>
            <a:r>
              <a:rPr lang="pl-PL" sz="4400" dirty="0" err="1">
                <a:solidFill>
                  <a:schemeClr val="bg1"/>
                </a:solidFill>
              </a:rPr>
              <a:t>graphReference</a:t>
            </a:r>
            <a:r>
              <a:rPr lang="pl-PL" sz="4400" dirty="0">
                <a:solidFill>
                  <a:schemeClr val="bg1"/>
                </a:solidFill>
              </a:rPr>
              <a:t>, </a:t>
            </a:r>
            <a:r>
              <a:rPr lang="pl-PL" sz="4400" dirty="0" err="1">
                <a:solidFill>
                  <a:schemeClr val="bg1"/>
                </a:solidFill>
              </a:rPr>
              <a:t>graphRegulated</a:t>
            </a:r>
            <a:r>
              <a:rPr lang="pl-PL" sz="4400" dirty="0">
                <a:solidFill>
                  <a:schemeClr val="bg1"/>
                </a:solidFill>
              </a:rPr>
              <a:t>}, </a:t>
            </a:r>
            <a:r>
              <a:rPr lang="pl-PL" sz="4400" dirty="0" err="1">
                <a:solidFill>
                  <a:schemeClr val="bg1"/>
                </a:solidFill>
              </a:rPr>
              <a:t>windowStart</a:t>
            </a:r>
            <a:r>
              <a:rPr lang="pl-PL" sz="4400" dirty="0">
                <a:solidFill>
                  <a:schemeClr val="bg1"/>
                </a:solidFill>
              </a:rPr>
              <a:t>, </a:t>
            </a:r>
            <a:r>
              <a:rPr lang="pl-PL" sz="4400" dirty="0" err="1">
                <a:solidFill>
                  <a:schemeClr val="bg1"/>
                </a:solidFill>
              </a:rPr>
              <a:t>timeSec</a:t>
            </a:r>
            <a:r>
              <a:rPr lang="pl-PL" sz="4400" dirty="0">
                <a:solidFill>
                  <a:schemeClr val="bg1"/>
                </a:solidFill>
              </a:rPr>
              <a:t>);</a:t>
            </a:r>
          </a:p>
          <a:p>
            <a:pPr lvl="1"/>
            <a:r>
              <a:rPr lang="pl-PL" sz="4400" dirty="0">
                <a:solidFill>
                  <a:schemeClr val="bg1"/>
                </a:solidFill>
              </a:rPr>
              <a:t>analogicznie dla pozostałych wykresów,</a:t>
            </a:r>
          </a:p>
          <a:p>
            <a:pPr lvl="1"/>
            <a:r>
              <a:rPr lang="pl-PL" sz="4400" dirty="0">
                <a:solidFill>
                  <a:schemeClr val="bg1"/>
                </a:solidFill>
              </a:rPr>
              <a:t>następnie </a:t>
            </a:r>
            <a:r>
              <a:rPr lang="pl-PL" sz="4400" dirty="0" err="1">
                <a:solidFill>
                  <a:schemeClr val="bg1"/>
                </a:solidFill>
              </a:rPr>
              <a:t>customPlot</a:t>
            </a:r>
            <a:r>
              <a:rPr lang="pl-PL" sz="4400" dirty="0">
                <a:solidFill>
                  <a:schemeClr val="bg1"/>
                </a:solidFill>
              </a:rPr>
              <a:t>-&gt;</a:t>
            </a:r>
            <a:r>
              <a:rPr lang="pl-PL" sz="4400" dirty="0" err="1">
                <a:solidFill>
                  <a:schemeClr val="bg1"/>
                </a:solidFill>
              </a:rPr>
              <a:t>replot</a:t>
            </a:r>
            <a:r>
              <a:rPr lang="pl-PL" sz="4400" dirty="0">
                <a:solidFill>
                  <a:schemeClr val="bg1"/>
                </a:solidFill>
              </a:rPr>
              <a:t>().</a:t>
            </a:r>
          </a:p>
          <a:p>
            <a:r>
              <a:rPr lang="pl-PL" sz="4400" dirty="0">
                <a:solidFill>
                  <a:schemeClr val="bg1"/>
                </a:solidFill>
              </a:rPr>
              <a:t>       -</a:t>
            </a:r>
            <a:r>
              <a:rPr lang="pl-PL" sz="4400" dirty="0" err="1">
                <a:solidFill>
                  <a:schemeClr val="bg1"/>
                </a:solidFill>
              </a:rPr>
              <a:t>updateGraphData</a:t>
            </a:r>
            <a:r>
              <a:rPr lang="pl-PL" sz="4400" dirty="0">
                <a:solidFill>
                  <a:schemeClr val="bg1"/>
                </a:solidFill>
              </a:rPr>
              <a:t>() — dla natychmiastowego dopisania punktu (ustawienie zakresu X i </a:t>
            </a:r>
            <a:r>
              <a:rPr lang="pl-PL" sz="4400" dirty="0" err="1">
                <a:solidFill>
                  <a:schemeClr val="bg1"/>
                </a:solidFill>
              </a:rPr>
              <a:t>replot</a:t>
            </a:r>
            <a:r>
              <a:rPr lang="pl-PL" sz="4400" dirty="0">
                <a:solidFill>
                  <a:schemeClr val="bg1"/>
                </a:solidFill>
              </a:rPr>
              <a:t>).</a:t>
            </a:r>
          </a:p>
          <a:p>
            <a:endParaRPr lang="en-US" sz="28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F0C4FF-D6ED-7C24-07B6-58C872116FCD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36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H="1">
            <a:off x="0" y="17640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C3D08F83-A673-D482-7780-970C1A3CC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0" y="2146883"/>
            <a:ext cx="20484903" cy="728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5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1E656-908C-4931-7EBB-978C47E6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F801A-E865-49A9-F7F5-9B2DC505707F}"/>
              </a:ext>
            </a:extLst>
          </p:cNvPr>
          <p:cNvSpPr txBox="1"/>
          <p:nvPr/>
        </p:nvSpPr>
        <p:spPr>
          <a:xfrm>
            <a:off x="84552" y="1783909"/>
            <a:ext cx="20269992" cy="7632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dirty="0">
                <a:solidFill>
                  <a:schemeClr val="bg1"/>
                </a:solidFill>
              </a:rPr>
              <a:t>Stabilność wartości</a:t>
            </a:r>
          </a:p>
          <a:p>
            <a:endParaRPr lang="pl-PL" sz="2800" dirty="0">
              <a:solidFill>
                <a:schemeClr val="bg1"/>
              </a:solidFill>
            </a:endParaRPr>
          </a:p>
          <a:p>
            <a:r>
              <a:rPr lang="fr-FR" sz="4400" dirty="0" err="1">
                <a:solidFill>
                  <a:schemeClr val="bg1"/>
                </a:solidFill>
              </a:rPr>
              <a:t>Funkcja</a:t>
            </a:r>
            <a:r>
              <a:rPr lang="fr-FR" sz="4400" dirty="0">
                <a:solidFill>
                  <a:schemeClr val="bg1"/>
                </a:solidFill>
              </a:rPr>
              <a:t>: </a:t>
            </a:r>
            <a:r>
              <a:rPr lang="fr-FR" sz="4400" dirty="0" err="1">
                <a:solidFill>
                  <a:schemeClr val="bg1"/>
                </a:solidFill>
              </a:rPr>
              <a:t>safeValue</a:t>
            </a:r>
            <a:r>
              <a:rPr lang="fr-FR" sz="4400" dirty="0">
                <a:solidFill>
                  <a:schemeClr val="bg1"/>
                </a:solidFill>
              </a:rPr>
              <a:t>(double v) </a:t>
            </a:r>
            <a:r>
              <a:rPr lang="fr-FR" sz="4400" dirty="0" err="1">
                <a:solidFill>
                  <a:schemeClr val="bg1"/>
                </a:solidFill>
              </a:rPr>
              <a:t>const</a:t>
            </a:r>
            <a:endParaRPr lang="pl-PL" sz="4400" dirty="0">
              <a:solidFill>
                <a:schemeClr val="bg1"/>
              </a:solidFill>
            </a:endParaRPr>
          </a:p>
          <a:p>
            <a:r>
              <a:rPr lang="pl-PL" sz="4400" dirty="0">
                <a:solidFill>
                  <a:schemeClr val="bg1"/>
                </a:solidFill>
              </a:rPr>
              <a:t>Co robi: filtruje </a:t>
            </a:r>
            <a:r>
              <a:rPr lang="pl-PL" sz="4400" dirty="0" err="1">
                <a:solidFill>
                  <a:schemeClr val="bg1"/>
                </a:solidFill>
              </a:rPr>
              <a:t>NaN</a:t>
            </a:r>
            <a:r>
              <a:rPr lang="pl-PL" sz="4400" dirty="0">
                <a:solidFill>
                  <a:schemeClr val="bg1"/>
                </a:solidFill>
              </a:rPr>
              <a:t>/</a:t>
            </a:r>
            <a:r>
              <a:rPr lang="pl-PL" sz="4400" dirty="0" err="1">
                <a:solidFill>
                  <a:schemeClr val="bg1"/>
                </a:solidFill>
              </a:rPr>
              <a:t>inf</a:t>
            </a:r>
            <a:r>
              <a:rPr lang="pl-PL" sz="4400" dirty="0">
                <a:solidFill>
                  <a:schemeClr val="bg1"/>
                </a:solidFill>
              </a:rPr>
              <a:t> i </a:t>
            </a:r>
            <a:r>
              <a:rPr lang="pl-PL" sz="4400" dirty="0" err="1">
                <a:solidFill>
                  <a:schemeClr val="bg1"/>
                </a:solidFill>
              </a:rPr>
              <a:t>klipuje</a:t>
            </a:r>
            <a:r>
              <a:rPr lang="pl-PL" sz="4400" dirty="0">
                <a:solidFill>
                  <a:schemeClr val="bg1"/>
                </a:solidFill>
              </a:rPr>
              <a:t> do </a:t>
            </a:r>
            <a:r>
              <a:rPr lang="pl-PL" sz="4400" dirty="0" err="1">
                <a:solidFill>
                  <a:schemeClr val="bg1"/>
                </a:solidFill>
              </a:rPr>
              <a:t>safeLimit</a:t>
            </a:r>
            <a:r>
              <a:rPr lang="pl-PL" sz="4400" dirty="0">
                <a:solidFill>
                  <a:schemeClr val="bg1"/>
                </a:solidFill>
              </a:rPr>
              <a:t> — zapobiega zaburzeniu zakresów przez ekstremalne wartości.</a:t>
            </a:r>
          </a:p>
          <a:p>
            <a:endParaRPr lang="pl-PL" sz="4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r>
              <a:rPr lang="pl-PL" sz="4400" b="1" dirty="0">
                <a:solidFill>
                  <a:schemeClr val="bg1"/>
                </a:solidFill>
                <a:cs typeface="Poppins SemiBold" panose="02000000000000000000" pitchFamily="2" charset="0"/>
              </a:rPr>
              <a:t>Podsumowanie:</a:t>
            </a:r>
          </a:p>
          <a:p>
            <a:r>
              <a:rPr lang="pl-PL" sz="4400" dirty="0">
                <a:solidFill>
                  <a:schemeClr val="bg1"/>
                </a:solidFill>
              </a:rPr>
              <a:t>Skalowanie Y jest robione automatycznie przez funkcję </a:t>
            </a:r>
            <a:r>
              <a:rPr lang="pl-PL" sz="4400" dirty="0" err="1">
                <a:solidFill>
                  <a:schemeClr val="bg1"/>
                </a:solidFill>
              </a:rPr>
              <a:t>autoscaleAxis</a:t>
            </a:r>
            <a:r>
              <a:rPr lang="pl-PL" sz="4400" dirty="0">
                <a:solidFill>
                  <a:schemeClr val="bg1"/>
                </a:solidFill>
              </a:rPr>
              <a:t>, która liczy min/max w obrębie okna czasowego; oś X jest rolowana (</a:t>
            </a:r>
            <a:r>
              <a:rPr lang="pl-PL" sz="4400" dirty="0" err="1">
                <a:solidFill>
                  <a:schemeClr val="bg1"/>
                </a:solidFill>
              </a:rPr>
              <a:t>sliding</a:t>
            </a:r>
            <a:r>
              <a:rPr lang="pl-PL" sz="4400" dirty="0">
                <a:solidFill>
                  <a:schemeClr val="bg1"/>
                </a:solidFill>
              </a:rPr>
              <a:t> </a:t>
            </a:r>
            <a:r>
              <a:rPr lang="pl-PL" sz="4400" dirty="0" err="1">
                <a:solidFill>
                  <a:schemeClr val="bg1"/>
                </a:solidFill>
              </a:rPr>
              <a:t>window</a:t>
            </a:r>
            <a:r>
              <a:rPr lang="pl-PL" sz="4400" dirty="0">
                <a:solidFill>
                  <a:schemeClr val="bg1"/>
                </a:solidFill>
              </a:rPr>
              <a:t>), a stare próbki są usuwane dla wydajności.</a:t>
            </a:r>
            <a:endParaRPr lang="en-US" sz="4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endParaRPr lang="en-US" sz="4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615451-23B9-9650-917C-8B1459ED9E23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4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401" y="1605004"/>
            <a:ext cx="21082308" cy="91717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</a:rPr>
              <a:t>Czego się nauczyłem realizując projekt UAR</a:t>
            </a:r>
          </a:p>
          <a:p>
            <a:endParaRPr lang="pl-PL" sz="2800" b="1" dirty="0">
              <a:solidFill>
                <a:schemeClr val="bg1"/>
              </a:solidFill>
            </a:endParaRP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Jak zaprojektować i zaimplementować model dynamiczny (ARX): myślenie o buforach próbek, opóźnieniach i mnożeniu wektorów współczynników — teraz rozumiem, skąd bierze się zachowanie procesu.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Jak działa i jak zaimplementować regulator PID w praktyce: P, I, D, różne sposoby liczenia całki, reset pamięci i mechanizmy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anti‑windup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 — zobaczyłem jak pojedyncze zmiany nastaw wpływają na odpowiedź układu.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Synchronizować symulację z rzeczywistym czasem: sterowanie krokami symulacji,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QTimer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, konwersja interwału (ms) na próbki — dzięki temu aplikacja działa płynnie przy różnych interwałach.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Tworzyć interaktywny interfejs w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Qt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: jak podłączyć kontrolki do logiki, jak zmieniać parametry w trakcie symulacji i dbać, żeby UI nie zaburzało działania symulacji.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Wizualizować dane sensownie: jak dopisywać punkty, utrzymywać „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sliding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window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” oraz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autoskalować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 oś Y (unikać zbyt małych zakresów i ignorować 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NaN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/</a:t>
            </a:r>
            <a:r>
              <a:rPr lang="pl-PL" sz="2800" dirty="0" err="1">
                <a:solidFill>
                  <a:schemeClr val="bg1"/>
                </a:solidFill>
                <a:cs typeface="Poppins SemiBold" panose="02000000000000000000" pitchFamily="2" charset="0"/>
              </a:rPr>
              <a:t>inf</a:t>
            </a:r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) — to bardzo pomaga w debugowaniu dynamiki układu.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Praktyczne podejście do wydajności: kiedy usuwać stare próbki, jak ograniczyć liczbę punktów na wykresie i odświeżać GUI tylko wtedy, gdy trzeba — dzięki temu aplikacja jest responsywna.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Przechowywać i odtwarzać konfigurację: zapisywanie/odczyt parametrów w JSON i dbanie, by nie zapisywać pamięci.</a:t>
            </a:r>
          </a:p>
          <a:p>
            <a:r>
              <a:rPr lang="pl-PL" sz="2800" dirty="0">
                <a:solidFill>
                  <a:schemeClr val="bg1"/>
                </a:solidFill>
                <a:cs typeface="Poppins SemiBold" panose="02000000000000000000" pitchFamily="2" charset="0"/>
              </a:rPr>
              <a:t>- Zyskałem praktyczne zrozumienie teorii sterowania — widząc na żywo jak zmiany parametrów PID i modelu ARX wpływają na odpowiedź mogłem połączyć matematykę z kodem.</a:t>
            </a:r>
          </a:p>
          <a:p>
            <a:endParaRPr lang="pl-PL" sz="2800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endParaRPr lang="pl-PL" sz="2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  <a:p>
            <a:endParaRPr lang="pl-PL" sz="24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1605004"/>
            <a:ext cx="167481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61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0BFB1-05A8-8AD9-3169-258CAF85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8A6C4-A7BB-C523-D544-FB213D310AE8}"/>
              </a:ext>
            </a:extLst>
          </p:cNvPr>
          <p:cNvSpPr txBox="1"/>
          <p:nvPr/>
        </p:nvSpPr>
        <p:spPr>
          <a:xfrm>
            <a:off x="84552" y="1783909"/>
            <a:ext cx="191594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Podsumowanie</a:t>
            </a:r>
            <a:endParaRPr kumimoji="0" 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E21083-83D9-162D-C464-EDB9B97931B2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">
            <a:extLst>
              <a:ext uri="{FF2B5EF4-FFF2-40B4-BE49-F238E27FC236}">
                <a16:creationId xmlns:a16="http://schemas.microsoft.com/office/drawing/2014/main" id="{42D3F0F0-E7C9-2BFD-BBFE-BAAFB2052233}"/>
              </a:ext>
            </a:extLst>
          </p:cNvPr>
          <p:cNvSpPr txBox="1"/>
          <p:nvPr/>
        </p:nvSpPr>
        <p:spPr>
          <a:xfrm>
            <a:off x="520971" y="3214390"/>
            <a:ext cx="19159412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pl-PL" b="1" dirty="0">
                <a:solidFill>
                  <a:prstClr val="white"/>
                </a:solidFill>
              </a:rPr>
              <a:t>Projekt jeszcze nie spełnia wszystkich wymagań z </a:t>
            </a:r>
            <a:r>
              <a:rPr lang="pl-PL" b="1" dirty="0" err="1">
                <a:solidFill>
                  <a:prstClr val="white"/>
                </a:solidFill>
              </a:rPr>
              <a:t>check</a:t>
            </a:r>
            <a:r>
              <a:rPr lang="pl-PL" b="1" dirty="0">
                <a:solidFill>
                  <a:prstClr val="white"/>
                </a:solidFill>
              </a:rPr>
              <a:t>‑listy, ale jest już blisko — do następnych zajęć dokończę poprawki i dopracuje funkcjonalności.  </a:t>
            </a:r>
          </a:p>
          <a:p>
            <a:pPr lvl="0"/>
            <a:r>
              <a:rPr lang="pl-PL" b="1" dirty="0">
                <a:solidFill>
                  <a:prstClr val="white"/>
                </a:solidFill>
              </a:rPr>
              <a:t>Obecnie występują błędy na wykresach i możliwe, że będę musiał przeprowadzić dodatkową przebudowę </a:t>
            </a:r>
            <a:r>
              <a:rPr lang="pl-PL" b="1" dirty="0" err="1">
                <a:solidFill>
                  <a:prstClr val="white"/>
                </a:solidFill>
              </a:rPr>
              <a:t>backendu</a:t>
            </a:r>
            <a:r>
              <a:rPr lang="pl-PL" b="1" dirty="0">
                <a:solidFill>
                  <a:prstClr val="white"/>
                </a:solidFill>
              </a:rPr>
              <a:t> lub wybranych klas, aby usunąć te problemy.</a:t>
            </a:r>
            <a:endParaRPr kumimoji="0" lang="pl-PL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66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12192000" y="0"/>
            <a:ext cx="12192000" cy="12079288"/>
          </a:xfrm>
          <a:prstGeom prst="rect">
            <a:avLst/>
          </a:prstGeom>
          <a:solidFill>
            <a:srgbClr val="15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72A91A-D3F3-66D2-34C5-9DC27B7781F7}"/>
              </a:ext>
            </a:extLst>
          </p:cNvPr>
          <p:cNvSpPr txBox="1"/>
          <p:nvPr/>
        </p:nvSpPr>
        <p:spPr>
          <a:xfrm>
            <a:off x="12466320" y="9608158"/>
            <a:ext cx="73350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sz="4400" b="1" dirty="0">
              <a:solidFill>
                <a:schemeClr val="bg1"/>
              </a:solidFill>
            </a:endParaRPr>
          </a:p>
          <a:p>
            <a:r>
              <a:rPr lang="pl-PL" sz="4400" b="1" dirty="0">
                <a:solidFill>
                  <a:schemeClr val="bg1"/>
                </a:solidFill>
              </a:rPr>
              <a:t>Mirosław Franczak | 305511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E08E2B1-D34D-84E6-F60E-58D557E64473}"/>
              </a:ext>
            </a:extLst>
          </p:cNvPr>
          <p:cNvSpPr txBox="1"/>
          <p:nvPr/>
        </p:nvSpPr>
        <p:spPr>
          <a:xfrm>
            <a:off x="274320" y="851882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600" b="1" dirty="0">
                <a:solidFill>
                  <a:schemeClr val="bg1"/>
                </a:solidFill>
              </a:rPr>
              <a:t>Dziękuje za uwagę!</a:t>
            </a:r>
          </a:p>
        </p:txBody>
      </p:sp>
    </p:spTree>
    <p:extLst>
      <p:ext uri="{BB962C8B-B14F-4D97-AF65-F5344CB8AC3E}">
        <p14:creationId xmlns:p14="http://schemas.microsoft.com/office/powerpoint/2010/main" val="143727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5070</TotalTime>
  <Words>638</Words>
  <Application>Microsoft Office PowerPoint</Application>
  <PresentationFormat>Niestandardowy</PresentationFormat>
  <Paragraphs>50</Paragraphs>
  <Slides>11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8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Mirek Franczak</cp:lastModifiedBy>
  <cp:revision>918</cp:revision>
  <dcterms:created xsi:type="dcterms:W3CDTF">2016-06-20T18:47:00Z</dcterms:created>
  <dcterms:modified xsi:type="dcterms:W3CDTF">2026-01-21T10:08:46Z</dcterms:modified>
</cp:coreProperties>
</file>